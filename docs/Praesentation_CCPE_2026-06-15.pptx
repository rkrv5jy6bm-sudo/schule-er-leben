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90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1480"/>
            <a:ext cx="1691640" cy="8503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137160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Schule (er)leben</a:t>
            </a:r>
            <a:endParaRPr lang="en-US" sz="5200" dirty="0"/>
          </a:p>
        </p:txBody>
      </p:sp>
      <p:sp>
        <p:nvSpPr>
          <p:cNvPr id="5" name="Text 1"/>
          <p:cNvSpPr/>
          <p:nvPr/>
        </p:nvSpPr>
        <p:spPr>
          <a:xfrm>
            <a:off x="137160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candidature 2026–2027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371600" y="32004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 jenseits des Klassenzimmers  ·  Lycée Technique d'Ettelbruck  · 2026–2029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52026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09728"/>
            <a:ext cx="6720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 &amp; Kernfrage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01168" y="48737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06/13/2026  Lycée Technique d'Ettelbruck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87375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d'Zukunft spezialiséiert  |  www.ltett.lu   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1168" y="1051560"/>
            <a:ext cx="3063240" cy="2587752"/>
          </a:xfrm>
          <a:prstGeom prst="roundRect">
            <a:avLst>
              <a:gd name="adj" fmla="val 2120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292608" y="1143000"/>
            <a:ext cx="365760" cy="3657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1887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Kernfrage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292608" y="1563624"/>
            <a:ext cx="2898648" cy="2020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können wir Lehrkräfte dabei unterstützen, Wissen für Schüler:innen außerhalb des Klassenzimmers erlebbar zu machen – sodass Lernen nicht nur theoretisch bleibt, sondern zu einer ganzheitlichen Entwicklung von Wissen, Können und Haltung führt?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401568" y="1051560"/>
            <a:ext cx="4416552" cy="658368"/>
          </a:xfrm>
          <a:prstGeom prst="roundRect">
            <a:avLst>
              <a:gd name="adj" fmla="val 6944"/>
            </a:avLst>
          </a:prstGeom>
          <a:solidFill>
            <a:srgbClr val="EDF3F9"/>
          </a:solidFill>
          <a:ln w="9525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8"/>
          <p:cNvSpPr/>
          <p:nvPr/>
        </p:nvSpPr>
        <p:spPr>
          <a:xfrm>
            <a:off x="3474720" y="1197864"/>
            <a:ext cx="347472" cy="347472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124358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5344" y="1088136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viel Bildschirm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895344" y="1307592"/>
            <a:ext cx="3867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Übermäßige Bildschirmzeit führt zu Konzentrationsproblemen, Schlafstörungen und reduzierten sozialen Fähigkeiten. (Twenge &amp; Campbell, 2019)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401568" y="1746504"/>
            <a:ext cx="4416552" cy="658368"/>
          </a:xfrm>
          <a:prstGeom prst="roundRect">
            <a:avLst>
              <a:gd name="adj" fmla="val 6944"/>
            </a:avLst>
          </a:prstGeom>
          <a:solidFill>
            <a:srgbClr val="EDF3F9"/>
          </a:solidFill>
          <a:ln w="9525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2"/>
          <p:cNvSpPr/>
          <p:nvPr/>
        </p:nvSpPr>
        <p:spPr>
          <a:xfrm>
            <a:off x="3474720" y="1892808"/>
            <a:ext cx="347472" cy="347472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193852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95344" y="1783080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Räumliche Lücke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3895344" y="2002536"/>
            <a:ext cx="3867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2026/27 fehlen durch die Renovierung des Lycée Agricole temporär Klassenzimmer – eine Chance für neue Lernorte.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3401568" y="2441448"/>
            <a:ext cx="4416552" cy="658368"/>
          </a:xfrm>
          <a:prstGeom prst="roundRect">
            <a:avLst>
              <a:gd name="adj" fmla="val 6944"/>
            </a:avLst>
          </a:prstGeom>
          <a:solidFill>
            <a:srgbClr val="EDF3F9"/>
          </a:solidFill>
          <a:ln w="9525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16"/>
          <p:cNvSpPr/>
          <p:nvPr/>
        </p:nvSpPr>
        <p:spPr>
          <a:xfrm>
            <a:off x="3474720" y="2587752"/>
            <a:ext cx="347472" cy="347472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6334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95344" y="2478024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Naturnähe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3895344" y="2697480"/>
            <a:ext cx="3867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mit zu wenig Naturkontakt entwickeln häufiger Konzentrationsprobleme. Naturklassenzimmer sind die Antwort. (Louv, 2008)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3401568" y="3136392"/>
            <a:ext cx="4416552" cy="502920"/>
          </a:xfrm>
          <a:prstGeom prst="roundRect">
            <a:avLst>
              <a:gd name="adj" fmla="val 7273"/>
            </a:avLst>
          </a:prstGeom>
          <a:solidFill>
            <a:srgbClr val="EDF3F9"/>
          </a:solidFill>
          <a:ln w="635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0"/>
          <p:cNvSpPr/>
          <p:nvPr/>
        </p:nvSpPr>
        <p:spPr>
          <a:xfrm>
            <a:off x="3493008" y="3172968"/>
            <a:ext cx="427024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HBSC-Studie LU (2022) + MENJE "Screen-Life-Balance" (2024) empfehlen mehr Angebote für mentale Gesundheit von Jugendlichen.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52026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09728"/>
            <a:ext cx="6720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Hauptziele des Projekts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01168" y="48737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06/13/2026  Lycée Technique d'Ettelbruck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87375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d'Zukunft spezialiséiert  |  www.ltett.lu   3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01168" y="1051560"/>
            <a:ext cx="7616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"Schule (er)leben" – Lernen jenseits des Klassenzimmers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01168" y="1435608"/>
            <a:ext cx="2496312" cy="1101852"/>
          </a:xfrm>
          <a:prstGeom prst="roundRect">
            <a:avLst>
              <a:gd name="adj" fmla="val 4149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283464" y="1517904"/>
            <a:ext cx="365760" cy="3657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15636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" y="1490472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Naturklassenzimmer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83464" y="1984248"/>
            <a:ext cx="2350008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Mind. 5 feste Lernorte: Arboretum, Windrad, Wasserrad, PV, Innenhof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761488" y="1435608"/>
            <a:ext cx="2496312" cy="1101852"/>
          </a:xfrm>
          <a:prstGeom prst="roundRect">
            <a:avLst>
              <a:gd name="adj" fmla="val 4149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9"/>
          <p:cNvSpPr/>
          <p:nvPr/>
        </p:nvSpPr>
        <p:spPr>
          <a:xfrm>
            <a:off x="2843784" y="1517904"/>
            <a:ext cx="365760" cy="3657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156362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82696" y="1490472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Ressourcendatenbank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2843784" y="1984248"/>
            <a:ext cx="2350008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Plattform mit fächerspezifischen Modulen für alle Fachbereiche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321808" y="1435608"/>
            <a:ext cx="2496312" cy="1101852"/>
          </a:xfrm>
          <a:prstGeom prst="roundRect">
            <a:avLst>
              <a:gd name="adj" fmla="val 4149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3"/>
          <p:cNvSpPr/>
          <p:nvPr/>
        </p:nvSpPr>
        <p:spPr>
          <a:xfrm>
            <a:off x="5404104" y="1517904"/>
            <a:ext cx="365760" cy="3657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824" y="156362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43016" y="1490472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Administrativer Leitfaden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04104" y="1984248"/>
            <a:ext cx="2350008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Regeln für Außenunterricht (Versicherung, Eduflow, Sicherheit)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01168" y="2601468"/>
            <a:ext cx="2496312" cy="1101852"/>
          </a:xfrm>
          <a:prstGeom prst="roundRect">
            <a:avLst>
              <a:gd name="adj" fmla="val 4149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17"/>
          <p:cNvSpPr/>
          <p:nvPr/>
        </p:nvSpPr>
        <p:spPr>
          <a:xfrm>
            <a:off x="283464" y="2683764"/>
            <a:ext cx="365760" cy="3657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" y="2729484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2376" y="2656332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Lehrerfortbildungen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283464" y="3150108"/>
            <a:ext cx="2350008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IFEN-Kurse (FuDo), Outdoor-Pädagogik, schulinterne Weiterbildung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2761488" y="2601468"/>
            <a:ext cx="2496312" cy="1101852"/>
          </a:xfrm>
          <a:prstGeom prst="roundRect">
            <a:avLst>
              <a:gd name="adj" fmla="val 4149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1"/>
          <p:cNvSpPr/>
          <p:nvPr/>
        </p:nvSpPr>
        <p:spPr>
          <a:xfrm>
            <a:off x="2843784" y="2683764"/>
            <a:ext cx="365760" cy="3657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9504" y="2729484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282696" y="2656332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Interdiszipl. Projekte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2843784" y="3150108"/>
            <a:ext cx="2350008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Unternehmens-/Museumsbesuche nach Kolb-Zyklus – fächerübergreifend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5321808" y="2601468"/>
            <a:ext cx="2496312" cy="1101852"/>
          </a:xfrm>
          <a:prstGeom prst="roundRect">
            <a:avLst>
              <a:gd name="adj" fmla="val 4149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25"/>
          <p:cNvSpPr/>
          <p:nvPr/>
        </p:nvSpPr>
        <p:spPr>
          <a:xfrm>
            <a:off x="5404104" y="2683764"/>
            <a:ext cx="365760" cy="3657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9824" y="2729484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843016" y="2656332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Mentale Gesundheit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5404104" y="3150108"/>
            <a:ext cx="2350008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Stärkung von Wohlbefinden, sozialer Kompetenz und Motivation der SuS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5900"/>
            <a:ext cx="9144000" cy="5240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09728"/>
            <a:ext cx="6720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Pilotierungsteam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01168" y="48737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06/13/2026  Lycée Technique d'Ettelbruck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87375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d'Zukunft spezialiséiert  |  www.ltett.lu   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856107" y="1051560"/>
            <a:ext cx="594360" cy="5943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856107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7447" y="16642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Yves Engel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447" y="1883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60345" y="1051560"/>
            <a:ext cx="594360" cy="5943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2760345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051685" y="16642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051685" y="1883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Direktion / Visuelle Aufarbeitung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4583" y="1051560"/>
            <a:ext cx="594360" cy="5943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4664583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955923" y="16642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955923" y="1883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&amp; Schulleitung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568821" y="1051560"/>
            <a:ext cx="594360" cy="5943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6568821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860161" y="16642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60161" y="1883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Stratege / Outdoor-Lernorte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56107" y="2093976"/>
            <a:ext cx="594360" cy="5943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/>
          <p:nvPr/>
        </p:nvSpPr>
        <p:spPr>
          <a:xfrm>
            <a:off x="856107" y="20939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47447" y="27066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Kenichi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47447" y="2926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 / Verbindungsglied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60345" y="2093976"/>
            <a:ext cx="594360" cy="5943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4"/>
          <p:cNvSpPr/>
          <p:nvPr/>
        </p:nvSpPr>
        <p:spPr>
          <a:xfrm>
            <a:off x="2760345" y="20939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051685" y="27066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Mylène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051685" y="2926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Naturklassenzimmer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664583" y="2093976"/>
            <a:ext cx="594360" cy="5943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8"/>
          <p:cNvSpPr/>
          <p:nvPr/>
        </p:nvSpPr>
        <p:spPr>
          <a:xfrm>
            <a:off x="4664583" y="20939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955923" y="27066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Nathalie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955923" y="2926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Praxisorientiert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568821" y="2093976"/>
            <a:ext cx="594360" cy="594360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2"/>
          <p:cNvSpPr/>
          <p:nvPr/>
        </p:nvSpPr>
        <p:spPr>
          <a:xfrm>
            <a:off x="6568821" y="20939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860161" y="27066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860161" y="2926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Handwerk &amp; Umsetzung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07492" y="3799332"/>
            <a:ext cx="7616952" cy="448056"/>
          </a:xfrm>
          <a:prstGeom prst="roundRect">
            <a:avLst>
              <a:gd name="adj" fmla="val 8163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6"/>
          <p:cNvSpPr/>
          <p:nvPr/>
        </p:nvSpPr>
        <p:spPr>
          <a:xfrm>
            <a:off x="507492" y="3831336"/>
            <a:ext cx="7452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Ressourcen &amp; Rückenwind: Thomas (Digitalisierung Arboretum)  ·  Iris ("Schoul dobaussen")  ·  Schulleitung  ·  CDS  ·  Elternvertretung  ·  SuS-Vertretung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1385"/>
            <a:ext cx="9144000" cy="52262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09728"/>
            <a:ext cx="6720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4 SMART-Ziele des Pé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01168" y="48737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06/13/2026  Lycée Technique d'Ettelbruck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87375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d'Zukunft spezialiséiert  |  www.ltett.lu   5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1168" y="972693"/>
            <a:ext cx="3771900" cy="1339596"/>
          </a:xfrm>
          <a:prstGeom prst="roundRect">
            <a:avLst>
              <a:gd name="adj" fmla="val 3636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201168" y="987551"/>
            <a:ext cx="347472" cy="1339595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201168" y="151561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1021842"/>
            <a:ext cx="310896" cy="310896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060704"/>
            <a:ext cx="219456" cy="2582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1024128"/>
            <a:ext cx="29306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Naturklassenzimmer &amp; Lernorte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21792" y="1383030"/>
            <a:ext cx="3278124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9"/>
          <p:cNvSpPr/>
          <p:nvPr/>
        </p:nvSpPr>
        <p:spPr>
          <a:xfrm>
            <a:off x="667512" y="1410383"/>
            <a:ext cx="3168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SMART: Bis 15.09.2027/28/29: jeweils 1 Naturklassenzimmer eingerichtet, beschildert und nutzbar.</a:t>
            </a:r>
            <a:endParaRPr lang="en-US" sz="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50" y="2139696"/>
            <a:ext cx="150876" cy="1508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9818" y="2071905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Pläne &amp; Budget genehmigt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459736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1248" y="2423160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Bauphase abgeschlossen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715768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41248" y="2679192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Arboretum digitalisiert (Phase 1–3)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4046220" y="973836"/>
            <a:ext cx="3771900" cy="1312164"/>
          </a:xfrm>
          <a:prstGeom prst="roundRect">
            <a:avLst>
              <a:gd name="adj" fmla="val 3636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4"/>
          <p:cNvSpPr/>
          <p:nvPr/>
        </p:nvSpPr>
        <p:spPr>
          <a:xfrm>
            <a:off x="4046220" y="969264"/>
            <a:ext cx="347472" cy="1312164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5"/>
          <p:cNvSpPr/>
          <p:nvPr/>
        </p:nvSpPr>
        <p:spPr>
          <a:xfrm>
            <a:off x="4046220" y="151561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457700" y="1059797"/>
            <a:ext cx="310896" cy="290322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2564" y="1084706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832604" y="1005840"/>
            <a:ext cx="29306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Aktivierung der Schulgemeinschaft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4466844" y="1414167"/>
            <a:ext cx="3278124" cy="627152"/>
          </a:xfrm>
          <a:prstGeom prst="rect">
            <a:avLst/>
          </a:prstGeom>
          <a:solidFill>
            <a:srgbClr val="FFFFFF"/>
          </a:solidFill>
          <a:ln w="635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19"/>
          <p:cNvSpPr/>
          <p:nvPr/>
        </p:nvSpPr>
        <p:spPr>
          <a:xfrm>
            <a:off x="4514850" y="1420237"/>
            <a:ext cx="3168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SMART: Bis 15.07.2028: die gesamte SG durch Leitfaden, Angebotskatalog und ≥ 5 Fortbildungen aktiv eingebunden.</a:t>
            </a:r>
            <a:endParaRPr lang="en-US" sz="8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2116836"/>
            <a:ext cx="164592" cy="16459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674870" y="2064416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Leitfaden erstellt &amp; kommuniziert</a:t>
            </a:r>
            <a:endParaRPr lang="en-US" sz="8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2459736"/>
            <a:ext cx="164592" cy="16459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686300" y="2423160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Angebotskatalog online</a:t>
            </a:r>
            <a:endParaRPr lang="en-US" sz="8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2715768"/>
            <a:ext cx="164592" cy="16459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4686300" y="2679192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Outdoor-Botschafter je Fachbereich</a:t>
            </a:r>
            <a:endParaRPr lang="en-US" sz="850" dirty="0"/>
          </a:p>
        </p:txBody>
      </p:sp>
      <p:sp>
        <p:nvSpPr>
          <p:cNvPr id="34" name="Shape 23"/>
          <p:cNvSpPr/>
          <p:nvPr/>
        </p:nvSpPr>
        <p:spPr>
          <a:xfrm>
            <a:off x="201168" y="2382012"/>
            <a:ext cx="3771900" cy="1920240"/>
          </a:xfrm>
          <a:prstGeom prst="roundRect">
            <a:avLst>
              <a:gd name="adj" fmla="val 3636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24"/>
          <p:cNvSpPr/>
          <p:nvPr/>
        </p:nvSpPr>
        <p:spPr>
          <a:xfrm>
            <a:off x="201168" y="2382012"/>
            <a:ext cx="347472" cy="1920240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25"/>
          <p:cNvSpPr/>
          <p:nvPr/>
        </p:nvSpPr>
        <p:spPr>
          <a:xfrm>
            <a:off x="201168" y="284607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7" name="Shape 26"/>
          <p:cNvSpPr/>
          <p:nvPr/>
        </p:nvSpPr>
        <p:spPr>
          <a:xfrm>
            <a:off x="621792" y="2436876"/>
            <a:ext cx="310896" cy="310896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2482596"/>
            <a:ext cx="219456" cy="219456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987552" y="2400300"/>
            <a:ext cx="29306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 integrieren "Odlo" regelmäßig</a:t>
            </a:r>
            <a:endParaRPr lang="en-US" sz="950" dirty="0"/>
          </a:p>
        </p:txBody>
      </p:sp>
      <p:sp>
        <p:nvSpPr>
          <p:cNvPr id="40" name="Shape 28"/>
          <p:cNvSpPr/>
          <p:nvPr/>
        </p:nvSpPr>
        <p:spPr>
          <a:xfrm>
            <a:off x="621792" y="2784348"/>
            <a:ext cx="3278124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29"/>
          <p:cNvSpPr/>
          <p:nvPr/>
        </p:nvSpPr>
        <p:spPr>
          <a:xfrm>
            <a:off x="676656" y="2811780"/>
            <a:ext cx="3168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SMART: Bis 15.07.2029: Lehrkräfte integrieren regelmäßig Outdoor-Lernorte in ihren Unterricht.</a:t>
            </a:r>
            <a:endParaRPr lang="en-US" sz="8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34156"/>
            <a:ext cx="164592" cy="16459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841248" y="3497580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Lerninhalte werden genutzt (30% J3)</a:t>
            </a:r>
            <a:endParaRPr lang="en-US" sz="85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790188"/>
            <a:ext cx="164592" cy="164592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841248" y="3753612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Fortbildungen besucht (30% J3)</a:t>
            </a:r>
            <a:endParaRPr lang="en-US" sz="85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046220"/>
            <a:ext cx="164592" cy="164592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841248" y="4009644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Klassenzimmer-Buchungen stabil</a:t>
            </a:r>
            <a:endParaRPr lang="en-US" sz="850" dirty="0"/>
          </a:p>
        </p:txBody>
      </p:sp>
      <p:sp>
        <p:nvSpPr>
          <p:cNvPr id="48" name="Shape 33"/>
          <p:cNvSpPr/>
          <p:nvPr/>
        </p:nvSpPr>
        <p:spPr>
          <a:xfrm>
            <a:off x="4046220" y="2382012"/>
            <a:ext cx="3771900" cy="1920240"/>
          </a:xfrm>
          <a:prstGeom prst="roundRect">
            <a:avLst>
              <a:gd name="adj" fmla="val 3636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34"/>
          <p:cNvSpPr/>
          <p:nvPr/>
        </p:nvSpPr>
        <p:spPr>
          <a:xfrm>
            <a:off x="4046220" y="2382012"/>
            <a:ext cx="347472" cy="1920240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35"/>
          <p:cNvSpPr/>
          <p:nvPr/>
        </p:nvSpPr>
        <p:spPr>
          <a:xfrm>
            <a:off x="4046220" y="284607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1" name="Shape 36"/>
          <p:cNvSpPr/>
          <p:nvPr/>
        </p:nvSpPr>
        <p:spPr>
          <a:xfrm>
            <a:off x="4466844" y="2436876"/>
            <a:ext cx="310896" cy="310896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2564" y="2482596"/>
            <a:ext cx="219456" cy="219456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4832604" y="2400300"/>
            <a:ext cx="29306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erweitern ihren Horizont</a:t>
            </a:r>
            <a:endParaRPr lang="en-US" sz="950" dirty="0"/>
          </a:p>
        </p:txBody>
      </p:sp>
      <p:sp>
        <p:nvSpPr>
          <p:cNvPr id="54" name="Shape 38"/>
          <p:cNvSpPr/>
          <p:nvPr/>
        </p:nvSpPr>
        <p:spPr>
          <a:xfrm>
            <a:off x="4466844" y="2784348"/>
            <a:ext cx="3278124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39"/>
          <p:cNvSpPr/>
          <p:nvPr/>
        </p:nvSpPr>
        <p:spPr>
          <a:xfrm>
            <a:off x="4521708" y="2811780"/>
            <a:ext cx="3168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SMART: Bis 15.07.2029: SuS entwickeln durch Odlo-Besuche ganzheitlich Wissen, Können und Haltung.</a:t>
            </a:r>
            <a:endParaRPr lang="en-US" sz="80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3534156"/>
            <a:ext cx="164592" cy="164592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4686300" y="3497580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 4GSN vs 4GSN Découverte (J2)</a:t>
            </a:r>
            <a:endParaRPr lang="en-US" sz="850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3790188"/>
            <a:ext cx="164592" cy="164592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4686300" y="3753612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 6G Parallelklassen (J3)</a:t>
            </a:r>
            <a:endParaRPr lang="en-US" sz="850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4046220"/>
            <a:ext cx="164592" cy="164592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4686300" y="4009644"/>
            <a:ext cx="30403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Fragebogen zu Wohlbefinden &amp; Kompetenz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4887"/>
            <a:ext cx="9144000" cy="5285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09728"/>
            <a:ext cx="6720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Wirkungstreppe – Von Output zu Impact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01168" y="48737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06/13/2026  Lycée Technique d'Ettelbruck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87375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d'Zukunft spezialiséiert  |  www.ltett.lu   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1168" y="1051560"/>
            <a:ext cx="2478024" cy="347472"/>
          </a:xfrm>
          <a:prstGeom prst="rect">
            <a:avLst/>
          </a:prstGeom>
          <a:solidFill>
            <a:srgbClr val="F39100"/>
          </a:solidFill>
          <a:ln w="12700">
            <a:solidFill>
              <a:srgbClr val="F391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201168" y="105156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Leistungsziele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1168" y="1417320"/>
            <a:ext cx="2478024" cy="1207008"/>
          </a:xfrm>
          <a:prstGeom prst="roundRect">
            <a:avLst>
              <a:gd name="adj" fmla="val 3788"/>
            </a:avLst>
          </a:prstGeom>
          <a:solidFill>
            <a:srgbClr val="EDF3F9"/>
          </a:solidFill>
          <a:ln w="12700">
            <a:solidFill>
              <a:srgbClr val="F391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292608" y="14904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Naturklassenzimmer + Lernorte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92608" y="1874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Leitfaden + Angebotskatalog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2608" y="2258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≥ 5 Fortbildungen angeboten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70632" y="1051560"/>
            <a:ext cx="2478024" cy="347472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2770632" y="105156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– Wirkungsziele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70632" y="1417320"/>
            <a:ext cx="2478024" cy="1207008"/>
          </a:xfrm>
          <a:prstGeom prst="roundRect">
            <a:avLst>
              <a:gd name="adj" fmla="val 3788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2862072" y="14904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LuL nutzen Outdoor-Lernorte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862072" y="1874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LuL erweitern Wissen über Odlo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862072" y="2258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SuS entdecken neues Potenzial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40096" y="1051560"/>
            <a:ext cx="2478024" cy="347472"/>
          </a:xfrm>
          <a:prstGeom prst="rect">
            <a:avLst/>
          </a:prstGeom>
          <a:solidFill>
            <a:srgbClr val="009EE3"/>
          </a:solidFill>
          <a:ln w="12700">
            <a:solidFill>
              <a:srgbClr val="009E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5340096" y="105156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– Verankerungsziele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40096" y="1417320"/>
            <a:ext cx="2478024" cy="1207008"/>
          </a:xfrm>
          <a:prstGeom prst="roundRect">
            <a:avLst>
              <a:gd name="adj" fmla="val 3788"/>
            </a:avLst>
          </a:prstGeom>
          <a:solidFill>
            <a:srgbClr val="EDF3F9"/>
          </a:solidFill>
          <a:ln w="12700">
            <a:solidFill>
              <a:srgbClr val="009E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5431536" y="14904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LuL integrieren Odlo regelmäßig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31536" y="1874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SuS erweitern ihren Horizont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31536" y="2258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Schulgemeinschaft bricht aus 4 Wänden aus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679192" y="1874520"/>
            <a:ext cx="91440" cy="219456"/>
          </a:xfrm>
          <a:prstGeom prst="rect">
            <a:avLst/>
          </a:prstGeom>
          <a:solidFill>
            <a:srgbClr val="003764"/>
          </a:solidFill>
          <a:ln w="12700">
            <a:solidFill>
              <a:srgbClr val="00376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2"/>
          <p:cNvSpPr/>
          <p:nvPr/>
        </p:nvSpPr>
        <p:spPr>
          <a:xfrm>
            <a:off x="5248656" y="1874520"/>
            <a:ext cx="91440" cy="219456"/>
          </a:xfrm>
          <a:prstGeom prst="rect">
            <a:avLst/>
          </a:prstGeom>
          <a:solidFill>
            <a:srgbClr val="003764"/>
          </a:solidFill>
          <a:ln w="12700">
            <a:solidFill>
              <a:srgbClr val="00376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3"/>
          <p:cNvSpPr/>
          <p:nvPr/>
        </p:nvSpPr>
        <p:spPr>
          <a:xfrm>
            <a:off x="201168" y="2872793"/>
            <a:ext cx="7616952" cy="256032"/>
          </a:xfrm>
          <a:prstGeom prst="rect">
            <a:avLst/>
          </a:prstGeom>
          <a:solidFill>
            <a:srgbClr val="003764"/>
          </a:solidFill>
          <a:ln w="12700">
            <a:solidFill>
              <a:srgbClr val="00376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4"/>
          <p:cNvSpPr/>
          <p:nvPr/>
        </p:nvSpPr>
        <p:spPr>
          <a:xfrm>
            <a:off x="201168" y="2843784"/>
            <a:ext cx="7616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Evaluationsstrategie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01168" y="3177540"/>
            <a:ext cx="761695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Quantitativ: Anzahl Außenunterrichtsstunden, Module, Fortbildungen, Lernorte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Qualitativ: Jährliche Befragung SuS + LuL (Motivation, Wohlbefinden, Lernerfolg)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Kontrollgruppen: 4GSN vs 4GSN Découverte (J2)  ·  6G Parallelklassen (J3)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Jahresbericht der Pilotierungsgruppe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52105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09728"/>
            <a:ext cx="6720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3-Jahres-Zeitstrahl &amp; Meilensteine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01168" y="48737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06/13/2026  Lycée Technique d'Ettelbruck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87375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d'Zukunft spezialiséiert  |  www.ltett.lu   7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1168" y="1600200"/>
            <a:ext cx="7616952" cy="54864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201168" y="1051560"/>
            <a:ext cx="2484120" cy="512064"/>
          </a:xfrm>
          <a:prstGeom prst="roundRect">
            <a:avLst>
              <a:gd name="adj" fmla="val 10714"/>
            </a:avLst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201168" y="1051560"/>
            <a:ext cx="2484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2026/27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0076" y="1581912"/>
            <a:ext cx="201168" cy="201168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170992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624" y="1691640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Konzeption &amp; Pläne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039112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0624" y="2020824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Naturklassenzimmer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368296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" y="2350008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Leitfaden + Katalog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697480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20624" y="2679192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Fortbildungen (10%)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40152" y="1051560"/>
            <a:ext cx="2484120" cy="512064"/>
          </a:xfrm>
          <a:prstGeom prst="roundRect">
            <a:avLst>
              <a:gd name="adj" fmla="val 10714"/>
            </a:avLst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2"/>
          <p:cNvSpPr/>
          <p:nvPr/>
        </p:nvSpPr>
        <p:spPr>
          <a:xfrm>
            <a:off x="2740152" y="1051560"/>
            <a:ext cx="2484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2027/28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3909060" y="1581912"/>
            <a:ext cx="201168" cy="201168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440" y="1709928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959608" y="1691640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Naturklassenzimmer</a:t>
            </a:r>
            <a:endParaRPr lang="en-US" sz="10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440" y="2039112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959608" y="2020824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Arboretum Phase 2</a:t>
            </a:r>
            <a:endParaRPr lang="en-US" sz="10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440" y="2368296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2959608" y="2350008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Interdiszipl. Projekte</a:t>
            </a:r>
            <a:endParaRPr lang="en-US" sz="10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440" y="2697480"/>
            <a:ext cx="164592" cy="16459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2959608" y="2679192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Fortbildungen (20%)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5279136" y="1051560"/>
            <a:ext cx="2484120" cy="512064"/>
          </a:xfrm>
          <a:prstGeom prst="roundRect">
            <a:avLst>
              <a:gd name="adj" fmla="val 10714"/>
            </a:avLst>
          </a:prstGeom>
          <a:solidFill>
            <a:srgbClr val="003764"/>
          </a:solidFill>
          <a:ln w="12700">
            <a:solidFill>
              <a:srgbClr val="00376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19"/>
          <p:cNvSpPr/>
          <p:nvPr/>
        </p:nvSpPr>
        <p:spPr>
          <a:xfrm>
            <a:off x="5279136" y="1051560"/>
            <a:ext cx="2484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2028/29</a:t>
            </a:r>
            <a:endParaRPr lang="en-US" sz="1300" dirty="0"/>
          </a:p>
        </p:txBody>
      </p:sp>
      <p:sp>
        <p:nvSpPr>
          <p:cNvPr id="31" name="Shape 20"/>
          <p:cNvSpPr/>
          <p:nvPr/>
        </p:nvSpPr>
        <p:spPr>
          <a:xfrm>
            <a:off x="6448044" y="1581912"/>
            <a:ext cx="201168" cy="201168"/>
          </a:xfrm>
          <a:prstGeom prst="ellipse">
            <a:avLst/>
          </a:prstGeom>
          <a:solidFill>
            <a:srgbClr val="003764"/>
          </a:solidFill>
          <a:ln w="12700">
            <a:solidFill>
              <a:srgbClr val="00376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424" y="1709928"/>
            <a:ext cx="164592" cy="16459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498592" y="1691640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Naturklassenzimmer</a:t>
            </a:r>
            <a:endParaRPr lang="en-US" sz="10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424" y="2039112"/>
            <a:ext cx="164592" cy="164592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498592" y="2020824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Module</a:t>
            </a:r>
            <a:endParaRPr lang="en-US" sz="10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424" y="2368296"/>
            <a:ext cx="164592" cy="164592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498592" y="2350008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Kontrollgruppen-Eval.</a:t>
            </a:r>
            <a:endParaRPr lang="en-US" sz="10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424" y="2697480"/>
            <a:ext cx="164592" cy="164592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498592" y="2679192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Fortbildungen (30%)</a:t>
            </a:r>
            <a:endParaRPr lang="en-US" sz="100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424" y="3026664"/>
            <a:ext cx="164592" cy="164592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5498592" y="3008376"/>
            <a:ext cx="2264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&amp; Abschluss</a:t>
            </a:r>
            <a:endParaRPr lang="en-US" sz="1000" dirty="0"/>
          </a:p>
        </p:txBody>
      </p:sp>
      <p:sp>
        <p:nvSpPr>
          <p:cNvPr id="42" name="Shape 26"/>
          <p:cNvSpPr/>
          <p:nvPr/>
        </p:nvSpPr>
        <p:spPr>
          <a:xfrm>
            <a:off x="219456" y="3423402"/>
            <a:ext cx="7623574" cy="334781"/>
          </a:xfrm>
          <a:prstGeom prst="roundRect">
            <a:avLst>
              <a:gd name="adj" fmla="val 14815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27"/>
          <p:cNvSpPr/>
          <p:nvPr/>
        </p:nvSpPr>
        <p:spPr>
          <a:xfrm>
            <a:off x="292608" y="3392424"/>
            <a:ext cx="7470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Messbare Ziele (Masterplan):  </a:t>
            </a:r>
            <a:r>
              <a:rPr lang="en-US" sz="9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J1: Erste Pilotnutzung, 10% Fortb.  |  </a:t>
            </a: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J2: </a:t>
            </a:r>
            <a:r>
              <a:rPr lang="en-US" sz="9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Fortb., 4GSN-Kontrollgruppe  |  </a:t>
            </a: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J3: </a:t>
            </a:r>
            <a:r>
              <a:rPr lang="en-US" sz="9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Fortb., 6G-Kontrollgruppe, Transfer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581"/>
            <a:ext cx="9144000" cy="52712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09728"/>
            <a:ext cx="6720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d'actions – Die 5 Säulen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01168" y="48737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06/13/2026  Lycée Technique d'Ettelbruck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87375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d'Zukunft spezialiséiert  |  www.ltett.lu   8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739750" y="1088136"/>
            <a:ext cx="402336" cy="402336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2" y="1138428"/>
            <a:ext cx="301752" cy="3017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26287" y="1490472"/>
            <a:ext cx="29261" cy="128016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5"/>
          <p:cNvSpPr/>
          <p:nvPr/>
        </p:nvSpPr>
        <p:spPr>
          <a:xfrm>
            <a:off x="201168" y="1618488"/>
            <a:ext cx="1479499" cy="1655064"/>
          </a:xfrm>
          <a:prstGeom prst="roundRect">
            <a:avLst>
              <a:gd name="adj" fmla="val 3090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6"/>
          <p:cNvSpPr/>
          <p:nvPr/>
        </p:nvSpPr>
        <p:spPr>
          <a:xfrm>
            <a:off x="237744" y="1664208"/>
            <a:ext cx="14063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Säule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Naturklass.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46888" y="2148840"/>
            <a:ext cx="1388059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Arboretum, Windrad, Wasserrad, PV, Innenhof, Obstgarten. 3 Bauphasen + Digitalisierung Arboretum.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274113" y="1088136"/>
            <a:ext cx="402336" cy="402336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405" y="1138428"/>
            <a:ext cx="301752" cy="30175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460650" y="1490472"/>
            <a:ext cx="29261" cy="128016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0"/>
          <p:cNvSpPr/>
          <p:nvPr/>
        </p:nvSpPr>
        <p:spPr>
          <a:xfrm>
            <a:off x="1735531" y="1618488"/>
            <a:ext cx="1479499" cy="1655064"/>
          </a:xfrm>
          <a:prstGeom prst="roundRect">
            <a:avLst>
              <a:gd name="adj" fmla="val 3090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1"/>
          <p:cNvSpPr/>
          <p:nvPr/>
        </p:nvSpPr>
        <p:spPr>
          <a:xfrm>
            <a:off x="1772107" y="1664208"/>
            <a:ext cx="14063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Säule 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Ressourcen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781251" y="2148840"/>
            <a:ext cx="1388059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Datenbank: Fach-Module für alle Sektionen. Administrativer Leitfaden → Schulhandbuch.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808476" y="1088136"/>
            <a:ext cx="402336" cy="402336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1138428"/>
            <a:ext cx="301752" cy="30175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995014" y="1490472"/>
            <a:ext cx="29261" cy="128016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5"/>
          <p:cNvSpPr/>
          <p:nvPr/>
        </p:nvSpPr>
        <p:spPr>
          <a:xfrm>
            <a:off x="3269894" y="1618488"/>
            <a:ext cx="1479499" cy="1655064"/>
          </a:xfrm>
          <a:prstGeom prst="roundRect">
            <a:avLst>
              <a:gd name="adj" fmla="val 3090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6"/>
          <p:cNvSpPr/>
          <p:nvPr/>
        </p:nvSpPr>
        <p:spPr>
          <a:xfrm>
            <a:off x="3306470" y="1664208"/>
            <a:ext cx="14063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Säule 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Fortbildung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3315614" y="2148840"/>
            <a:ext cx="1388059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IFEN: FuDo, Outdoor-Pädagogik, 1. Hilfe. Journée pédagogique, Outdoor-Botschafter.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342839" y="1088136"/>
            <a:ext cx="402336" cy="402336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3131" y="1138428"/>
            <a:ext cx="301752" cy="30175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529377" y="1490472"/>
            <a:ext cx="29261" cy="128016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0"/>
          <p:cNvSpPr/>
          <p:nvPr/>
        </p:nvSpPr>
        <p:spPr>
          <a:xfrm>
            <a:off x="4804258" y="1618488"/>
            <a:ext cx="1479499" cy="1655064"/>
          </a:xfrm>
          <a:prstGeom prst="roundRect">
            <a:avLst>
              <a:gd name="adj" fmla="val 3090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1"/>
          <p:cNvSpPr/>
          <p:nvPr/>
        </p:nvSpPr>
        <p:spPr>
          <a:xfrm>
            <a:off x="4840834" y="1664208"/>
            <a:ext cx="14063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Säule 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849978" y="2148840"/>
            <a:ext cx="1388059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Kolb-Zyklus: Besuch → Reflexion → Abstraktion → Anwendung. Partner: </a:t>
            </a:r>
            <a:r>
              <a:rPr lang="en-US" sz="800" dirty="0" err="1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</a:t>
            </a: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.: </a:t>
            </a:r>
            <a:r>
              <a:rPr lang="en-US" sz="800" dirty="0" err="1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Geobloc</a:t>
            </a: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reUse.lu, SDK, Mëllerdall.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877202" y="1088136"/>
            <a:ext cx="402336" cy="402336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7494" y="1138428"/>
            <a:ext cx="301752" cy="30175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7063740" y="1490472"/>
            <a:ext cx="29261" cy="128016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25"/>
          <p:cNvSpPr/>
          <p:nvPr/>
        </p:nvSpPr>
        <p:spPr>
          <a:xfrm>
            <a:off x="6338621" y="1618488"/>
            <a:ext cx="1479499" cy="1655064"/>
          </a:xfrm>
          <a:prstGeom prst="roundRect">
            <a:avLst>
              <a:gd name="adj" fmla="val 3090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26"/>
          <p:cNvSpPr/>
          <p:nvPr/>
        </p:nvSpPr>
        <p:spPr>
          <a:xfrm>
            <a:off x="6375197" y="1664208"/>
            <a:ext cx="14063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Säule 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384341" y="2148840"/>
            <a:ext cx="1388059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Intern: NewsLTETTer, Sharepoint, Jahresbericht. Extern: Website, Elternabende, CCPÉ.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201168" y="3310128"/>
            <a:ext cx="7616952" cy="329184"/>
          </a:xfrm>
          <a:prstGeom prst="roundRect">
            <a:avLst>
              <a:gd name="adj" fmla="val 11111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29"/>
          <p:cNvSpPr/>
          <p:nvPr/>
        </p:nvSpPr>
        <p:spPr>
          <a:xfrm>
            <a:off x="292608" y="3328416"/>
            <a:ext cx="7452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Empfehlungen des Vorstands berücksichtigt:  Pädagogische Formen angepasst  ·  Sicherheitskonzept integriert  ·  Quant. + qualit. Indikatoren festgelegt  ·  Eltern eingebunden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09728"/>
            <a:ext cx="6720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Zielgruppen &amp; Nachhaltigkeit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01168" y="48737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06/13/2026  Lycée Technique d'Ettelbruck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87375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d'Zukunft spezialiséiert  |  www.ltett.lu   9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01168" y="1051560"/>
            <a:ext cx="37261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Zielgruppen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91940" y="1051560"/>
            <a:ext cx="37261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 nach dem Pé?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1168" y="1380744"/>
            <a:ext cx="3726180" cy="716280"/>
          </a:xfrm>
          <a:prstGeom prst="roundRect">
            <a:avLst>
              <a:gd name="adj" fmla="val 6383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274320" y="1583436"/>
            <a:ext cx="310896" cy="310896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915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1417320"/>
            <a:ext cx="32141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Schüler:innen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58368" y="1636776"/>
            <a:ext cx="3214116" cy="423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SuS des LTEtt. Aktive Einbeziehung durch Befragungen, Mitgestaltung der Lernorte, Feedback.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01168" y="2142744"/>
            <a:ext cx="3726180" cy="716280"/>
          </a:xfrm>
          <a:prstGeom prst="roundRect">
            <a:avLst>
              <a:gd name="adj" fmla="val 6383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0"/>
          <p:cNvSpPr/>
          <p:nvPr/>
        </p:nvSpPr>
        <p:spPr>
          <a:xfrm>
            <a:off x="274320" y="2345436"/>
            <a:ext cx="310896" cy="310896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39115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" y="2179320"/>
            <a:ext cx="32141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Lehrkräfte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58368" y="2398776"/>
            <a:ext cx="3214116" cy="423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Fortbildungen, Ressourcen, Leitfaden. Outdoor-Botschafter sichern kollegialen Support.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201168" y="2904744"/>
            <a:ext cx="3726180" cy="716280"/>
          </a:xfrm>
          <a:prstGeom prst="roundRect">
            <a:avLst>
              <a:gd name="adj" fmla="val 6383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4"/>
          <p:cNvSpPr/>
          <p:nvPr/>
        </p:nvSpPr>
        <p:spPr>
          <a:xfrm>
            <a:off x="274320" y="3107436"/>
            <a:ext cx="310896" cy="310896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153156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8368" y="2941320"/>
            <a:ext cx="32141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Eltern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58368" y="3160776"/>
            <a:ext cx="3214116" cy="423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Newsletter, Elternabende, Elternausschuss. Einbindung als externe Expertise bei Projekten.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091940" y="1380744"/>
            <a:ext cx="3726180" cy="424282"/>
          </a:xfrm>
          <a:prstGeom prst="roundRect">
            <a:avLst>
              <a:gd name="adj" fmla="val 10776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18"/>
          <p:cNvSpPr/>
          <p:nvPr/>
        </p:nvSpPr>
        <p:spPr>
          <a:xfrm>
            <a:off x="4155948" y="1464869"/>
            <a:ext cx="256032" cy="256032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2524" y="1501445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94276" y="1408176"/>
            <a:ext cx="3268980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Physische Lernorte: 3 Naturklassenzimmer bleiben dauerhaft nutzbar.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091940" y="1841602"/>
            <a:ext cx="3726180" cy="424282"/>
          </a:xfrm>
          <a:prstGeom prst="roundRect">
            <a:avLst>
              <a:gd name="adj" fmla="val 10776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1"/>
          <p:cNvSpPr/>
          <p:nvPr/>
        </p:nvSpPr>
        <p:spPr>
          <a:xfrm>
            <a:off x="4155948" y="1925726"/>
            <a:ext cx="256032" cy="256032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2524" y="1962302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494276" y="1869034"/>
            <a:ext cx="3268980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Datenbank: Fachbereiche pflegen eigenständig. Kein Mehraufwand.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4091940" y="2302459"/>
            <a:ext cx="3726180" cy="424282"/>
          </a:xfrm>
          <a:prstGeom prst="roundRect">
            <a:avLst>
              <a:gd name="adj" fmla="val 10776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4"/>
          <p:cNvSpPr/>
          <p:nvPr/>
        </p:nvSpPr>
        <p:spPr>
          <a:xfrm>
            <a:off x="4155948" y="2386584"/>
            <a:ext cx="256032" cy="256032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2524" y="2423160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494276" y="2329891"/>
            <a:ext cx="3268980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Leitfaden: Ins Schulhandbuch integriert – alle neuen LuL erhalten ihn.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4091940" y="2763317"/>
            <a:ext cx="3726180" cy="424282"/>
          </a:xfrm>
          <a:prstGeom prst="roundRect">
            <a:avLst>
              <a:gd name="adj" fmla="val 10776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27"/>
          <p:cNvSpPr/>
          <p:nvPr/>
        </p:nvSpPr>
        <p:spPr>
          <a:xfrm>
            <a:off x="4155948" y="2847442"/>
            <a:ext cx="256032" cy="256032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2524" y="2884018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494276" y="2790749"/>
            <a:ext cx="3268980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Outdoor-Botschafter: 1 Ansprechperson pro Fachbereich bleibt aktiv.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4091940" y="3224174"/>
            <a:ext cx="3726180" cy="424282"/>
          </a:xfrm>
          <a:prstGeom prst="roundRect">
            <a:avLst>
              <a:gd name="adj" fmla="val 10776"/>
            </a:avLst>
          </a:prstGeom>
          <a:solidFill>
            <a:srgbClr val="EDF3F9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0"/>
          <p:cNvSpPr/>
          <p:nvPr/>
        </p:nvSpPr>
        <p:spPr>
          <a:xfrm>
            <a:off x="4155948" y="3308299"/>
            <a:ext cx="256032" cy="256032"/>
          </a:xfrm>
          <a:prstGeom prst="ellipse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2524" y="3344875"/>
            <a:ext cx="182880" cy="18288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4494276" y="3251606"/>
            <a:ext cx="3268980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Transferdokument: Konzept für andere Lycéen in Luxemburg.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3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6858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Schule (er)leben –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brechen aus den vier Wänden aus.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371600" y="2322576"/>
            <a:ext cx="5029200" cy="45720"/>
          </a:xfrm>
          <a:prstGeom prst="rect">
            <a:avLst/>
          </a:prstGeom>
          <a:solidFill>
            <a:srgbClr val="93C11A"/>
          </a:solidFill>
          <a:ln w="12700">
            <a:solidFill>
              <a:srgbClr val="93C1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1371600" y="2487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Schritte: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852928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64208" y="2825496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Genehmigung des Dossiers durch CCPÉ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236976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64208" y="3209544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Unterzeichnung der Pé-Konvention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21024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64208" y="3593592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Schuljahr 2026/27: Planung der Naturklassenzimmer &amp; Ressourcenaufbau</a:t>
            </a:r>
            <a:endParaRPr lang="en-US" sz="11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005072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664208" y="397764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Journée pédagogique zu Outdoor-Unterricht (Herbst 2026)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</Words>
  <Application>Microsoft Macintosh PowerPoint</Application>
  <PresentationFormat>Bildschirmpräsentation (16:9)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ENGEL Yves</cp:lastModifiedBy>
  <cp:revision>2</cp:revision>
  <dcterms:created xsi:type="dcterms:W3CDTF">2026-06-14T16:56:08Z</dcterms:created>
  <dcterms:modified xsi:type="dcterms:W3CDTF">2026-06-15T06:33:54Z</dcterms:modified>
</cp:coreProperties>
</file>